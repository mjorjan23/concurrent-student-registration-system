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69" r:id="rId5"/>
    <p:sldId id="259" r:id="rId6"/>
    <p:sldId id="260" r:id="rId7"/>
    <p:sldId id="261" r:id="rId8"/>
    <p:sldId id="263" r:id="rId9"/>
    <p:sldId id="266" r:id="rId10"/>
    <p:sldId id="267" r:id="rId11"/>
    <p:sldId id="268" r:id="rId12"/>
    <p:sldId id="26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1"/>
    <p:restoredTop sz="96301"/>
  </p:normalViewPr>
  <p:slideViewPr>
    <p:cSldViewPr snapToGrid="0">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2DBEA5-E6FC-A24C-8A39-EA7A5E1D7275}" type="datetimeFigureOut">
              <a:rPr lang="en-US" smtClean="0"/>
              <a:t>8/8/26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E9B2C2-BC90-004F-A701-0C6765E83AB7}" type="slidenum">
              <a:rPr lang="en-US" smtClean="0"/>
              <a:t>‹#›</a:t>
            </a:fld>
            <a:endParaRPr lang="en-US"/>
          </a:p>
        </p:txBody>
      </p:sp>
    </p:spTree>
    <p:extLst>
      <p:ext uri="{BB962C8B-B14F-4D97-AF65-F5344CB8AC3E}">
        <p14:creationId xmlns:p14="http://schemas.microsoft.com/office/powerpoint/2010/main" val="8092067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my biggest architectural decisions was moving from direct method calls to event-driven communication. Instead of one component directly invoking the next stage, each worker simply publishes an event describing what happened. The next worker independently consumes that event from a queue. This reduces coupling because workers no longer depend on one another directly, makes the workflow asynchronous, and allows new processing stages to be added with minimal changes to the existing architecture."</a:t>
            </a:r>
          </a:p>
        </p:txBody>
      </p:sp>
      <p:sp>
        <p:nvSpPr>
          <p:cNvPr id="4" name="Slide Number Placeholder 3"/>
          <p:cNvSpPr>
            <a:spLocks noGrp="1"/>
          </p:cNvSpPr>
          <p:nvPr>
            <p:ph type="sldNum" sz="quarter" idx="5"/>
          </p:nvPr>
        </p:nvSpPr>
        <p:spPr/>
        <p:txBody>
          <a:bodyPr/>
          <a:lstStyle/>
          <a:p>
            <a:fld id="{9FE9B2C2-BC90-004F-A701-0C6765E83AB7}" type="slidenum">
              <a:rPr lang="en-US" smtClean="0"/>
              <a:t>5</a:t>
            </a:fld>
            <a:endParaRPr lang="en-US"/>
          </a:p>
        </p:txBody>
      </p:sp>
    </p:spTree>
    <p:extLst>
      <p:ext uri="{BB962C8B-B14F-4D97-AF65-F5344CB8AC3E}">
        <p14:creationId xmlns:p14="http://schemas.microsoft.com/office/powerpoint/2010/main" val="1015888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my biggest design goals was keeping responsibilities separate. Domain objects own and protect their own state, services perform the business operations, workers simply coordinate the asynchronous workflow, and events move information between workers. This separation made the system easier to understand, easier to maintain, and much easier to extend as the project evolved from Assignment 1 through Assignment 4."</a:t>
            </a:r>
          </a:p>
        </p:txBody>
      </p:sp>
      <p:sp>
        <p:nvSpPr>
          <p:cNvPr id="4" name="Slide Number Placeholder 3"/>
          <p:cNvSpPr>
            <a:spLocks noGrp="1"/>
          </p:cNvSpPr>
          <p:nvPr>
            <p:ph type="sldNum" sz="quarter" idx="5"/>
          </p:nvPr>
        </p:nvSpPr>
        <p:spPr/>
        <p:txBody>
          <a:bodyPr/>
          <a:lstStyle/>
          <a:p>
            <a:fld id="{9FE9B2C2-BC90-004F-A701-0C6765E83AB7}" type="slidenum">
              <a:rPr lang="en-US" smtClean="0"/>
              <a:t>7</a:t>
            </a:fld>
            <a:endParaRPr lang="en-US"/>
          </a:p>
        </p:txBody>
      </p:sp>
    </p:spTree>
    <p:extLst>
      <p:ext uri="{BB962C8B-B14F-4D97-AF65-F5344CB8AC3E}">
        <p14:creationId xmlns:p14="http://schemas.microsoft.com/office/powerpoint/2010/main" val="22629733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AEEC9E-91F4-B73F-2F5D-8965EA6FD6A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73D9527-FC5B-08F6-FE4D-2D88CB88CB5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770EB90-83DF-9B81-DC0B-744AA403BDB3}"/>
              </a:ext>
            </a:extLst>
          </p:cNvPr>
          <p:cNvSpPr>
            <a:spLocks noGrp="1"/>
          </p:cNvSpPr>
          <p:nvPr>
            <p:ph type="dt" sz="half" idx="10"/>
          </p:nvPr>
        </p:nvSpPr>
        <p:spPr/>
        <p:txBody>
          <a:bodyPr/>
          <a:lstStyle/>
          <a:p>
            <a:fld id="{4CB3340A-7C1F-FE4F-A59F-976B8D1D8842}" type="datetimeFigureOut">
              <a:rPr lang="en-US" smtClean="0"/>
              <a:t>8/8/26</a:t>
            </a:fld>
            <a:endParaRPr lang="en-US"/>
          </a:p>
        </p:txBody>
      </p:sp>
      <p:sp>
        <p:nvSpPr>
          <p:cNvPr id="5" name="Footer Placeholder 4">
            <a:extLst>
              <a:ext uri="{FF2B5EF4-FFF2-40B4-BE49-F238E27FC236}">
                <a16:creationId xmlns:a16="http://schemas.microsoft.com/office/drawing/2014/main" id="{4EA5A0FD-67F8-99C3-C4F1-6FF5E4C6C4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1D6EED-BCAA-3B12-32FF-275024E48940}"/>
              </a:ext>
            </a:extLst>
          </p:cNvPr>
          <p:cNvSpPr>
            <a:spLocks noGrp="1"/>
          </p:cNvSpPr>
          <p:nvPr>
            <p:ph type="sldNum" sz="quarter" idx="12"/>
          </p:nvPr>
        </p:nvSpPr>
        <p:spPr/>
        <p:txBody>
          <a:bodyPr/>
          <a:lstStyle/>
          <a:p>
            <a:fld id="{A6D4CBE7-491A-3548-B760-244F1BA7873E}" type="slidenum">
              <a:rPr lang="en-US" smtClean="0"/>
              <a:t>‹#›</a:t>
            </a:fld>
            <a:endParaRPr lang="en-US"/>
          </a:p>
        </p:txBody>
      </p:sp>
    </p:spTree>
    <p:extLst>
      <p:ext uri="{BB962C8B-B14F-4D97-AF65-F5344CB8AC3E}">
        <p14:creationId xmlns:p14="http://schemas.microsoft.com/office/powerpoint/2010/main" val="26515763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54E96-7150-4439-93F4-2A2EB77C360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041915A-369A-FF03-69E8-E9081359B6D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0DD1F1-873A-2738-8DA0-AE19722A14A1}"/>
              </a:ext>
            </a:extLst>
          </p:cNvPr>
          <p:cNvSpPr>
            <a:spLocks noGrp="1"/>
          </p:cNvSpPr>
          <p:nvPr>
            <p:ph type="dt" sz="half" idx="10"/>
          </p:nvPr>
        </p:nvSpPr>
        <p:spPr/>
        <p:txBody>
          <a:bodyPr/>
          <a:lstStyle/>
          <a:p>
            <a:fld id="{4CB3340A-7C1F-FE4F-A59F-976B8D1D8842}" type="datetimeFigureOut">
              <a:rPr lang="en-US" smtClean="0"/>
              <a:t>8/8/26</a:t>
            </a:fld>
            <a:endParaRPr lang="en-US"/>
          </a:p>
        </p:txBody>
      </p:sp>
      <p:sp>
        <p:nvSpPr>
          <p:cNvPr id="5" name="Footer Placeholder 4">
            <a:extLst>
              <a:ext uri="{FF2B5EF4-FFF2-40B4-BE49-F238E27FC236}">
                <a16:creationId xmlns:a16="http://schemas.microsoft.com/office/drawing/2014/main" id="{FCB4B746-E753-C7EB-AA1D-B5F81CE5CA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32D91F-109B-FB34-BF3B-C6D472B1D65E}"/>
              </a:ext>
            </a:extLst>
          </p:cNvPr>
          <p:cNvSpPr>
            <a:spLocks noGrp="1"/>
          </p:cNvSpPr>
          <p:nvPr>
            <p:ph type="sldNum" sz="quarter" idx="12"/>
          </p:nvPr>
        </p:nvSpPr>
        <p:spPr/>
        <p:txBody>
          <a:bodyPr/>
          <a:lstStyle/>
          <a:p>
            <a:fld id="{A6D4CBE7-491A-3548-B760-244F1BA7873E}" type="slidenum">
              <a:rPr lang="en-US" smtClean="0"/>
              <a:t>‹#›</a:t>
            </a:fld>
            <a:endParaRPr lang="en-US"/>
          </a:p>
        </p:txBody>
      </p:sp>
    </p:spTree>
    <p:extLst>
      <p:ext uri="{BB962C8B-B14F-4D97-AF65-F5344CB8AC3E}">
        <p14:creationId xmlns:p14="http://schemas.microsoft.com/office/powerpoint/2010/main" val="33686676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213FF-D4A7-C6DA-F133-D5ABBDA13E9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5C5756D-CDAA-C89F-F920-CE8CDE2B889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437933C-B48A-BB6E-2F17-6E0758E5AFED}"/>
              </a:ext>
            </a:extLst>
          </p:cNvPr>
          <p:cNvSpPr>
            <a:spLocks noGrp="1"/>
          </p:cNvSpPr>
          <p:nvPr>
            <p:ph type="dt" sz="half" idx="10"/>
          </p:nvPr>
        </p:nvSpPr>
        <p:spPr/>
        <p:txBody>
          <a:bodyPr/>
          <a:lstStyle/>
          <a:p>
            <a:fld id="{4CB3340A-7C1F-FE4F-A59F-976B8D1D8842}" type="datetimeFigureOut">
              <a:rPr lang="en-US" smtClean="0"/>
              <a:t>8/8/26</a:t>
            </a:fld>
            <a:endParaRPr lang="en-US"/>
          </a:p>
        </p:txBody>
      </p:sp>
      <p:sp>
        <p:nvSpPr>
          <p:cNvPr id="5" name="Footer Placeholder 4">
            <a:extLst>
              <a:ext uri="{FF2B5EF4-FFF2-40B4-BE49-F238E27FC236}">
                <a16:creationId xmlns:a16="http://schemas.microsoft.com/office/drawing/2014/main" id="{3B441E7A-B615-1322-990B-1F1E969E1A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B3DFB5-EFDD-97EF-79A0-0A7359387650}"/>
              </a:ext>
            </a:extLst>
          </p:cNvPr>
          <p:cNvSpPr>
            <a:spLocks noGrp="1"/>
          </p:cNvSpPr>
          <p:nvPr>
            <p:ph type="sldNum" sz="quarter" idx="12"/>
          </p:nvPr>
        </p:nvSpPr>
        <p:spPr/>
        <p:txBody>
          <a:bodyPr/>
          <a:lstStyle/>
          <a:p>
            <a:fld id="{A6D4CBE7-491A-3548-B760-244F1BA7873E}" type="slidenum">
              <a:rPr lang="en-US" smtClean="0"/>
              <a:t>‹#›</a:t>
            </a:fld>
            <a:endParaRPr lang="en-US"/>
          </a:p>
        </p:txBody>
      </p:sp>
    </p:spTree>
    <p:extLst>
      <p:ext uri="{BB962C8B-B14F-4D97-AF65-F5344CB8AC3E}">
        <p14:creationId xmlns:p14="http://schemas.microsoft.com/office/powerpoint/2010/main" val="26866714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A0ED8-827C-72A5-7AD8-719A91FFCD3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0BA823D-4CC0-391D-2FE3-C7232D2D64D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56DDCF6-FF09-AD11-F502-D89EE99F2A0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44E9FA3-556D-02DE-ED57-E76082672300}"/>
              </a:ext>
            </a:extLst>
          </p:cNvPr>
          <p:cNvSpPr>
            <a:spLocks noGrp="1"/>
          </p:cNvSpPr>
          <p:nvPr>
            <p:ph type="dt" sz="half" idx="10"/>
          </p:nvPr>
        </p:nvSpPr>
        <p:spPr/>
        <p:txBody>
          <a:bodyPr/>
          <a:lstStyle/>
          <a:p>
            <a:fld id="{4CB3340A-7C1F-FE4F-A59F-976B8D1D8842}" type="datetimeFigureOut">
              <a:rPr lang="en-US" smtClean="0"/>
              <a:t>8/8/26</a:t>
            </a:fld>
            <a:endParaRPr lang="en-US"/>
          </a:p>
        </p:txBody>
      </p:sp>
      <p:sp>
        <p:nvSpPr>
          <p:cNvPr id="6" name="Footer Placeholder 5">
            <a:extLst>
              <a:ext uri="{FF2B5EF4-FFF2-40B4-BE49-F238E27FC236}">
                <a16:creationId xmlns:a16="http://schemas.microsoft.com/office/drawing/2014/main" id="{A5157B2A-977F-A621-9CBB-44F111E6D5E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91818B4-12AC-FE40-DA72-915AD09773E1}"/>
              </a:ext>
            </a:extLst>
          </p:cNvPr>
          <p:cNvSpPr>
            <a:spLocks noGrp="1"/>
          </p:cNvSpPr>
          <p:nvPr>
            <p:ph type="sldNum" sz="quarter" idx="12"/>
          </p:nvPr>
        </p:nvSpPr>
        <p:spPr/>
        <p:txBody>
          <a:bodyPr/>
          <a:lstStyle/>
          <a:p>
            <a:fld id="{A6D4CBE7-491A-3548-B760-244F1BA7873E}" type="slidenum">
              <a:rPr lang="en-US" smtClean="0"/>
              <a:t>‹#›</a:t>
            </a:fld>
            <a:endParaRPr lang="en-US"/>
          </a:p>
        </p:txBody>
      </p:sp>
    </p:spTree>
    <p:extLst>
      <p:ext uri="{BB962C8B-B14F-4D97-AF65-F5344CB8AC3E}">
        <p14:creationId xmlns:p14="http://schemas.microsoft.com/office/powerpoint/2010/main" val="778583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FF5F7-3E9B-26E1-DF2E-F692F2EC736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DDDFF5C-7044-6269-508C-74600389F9F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8E9D0EF-5DAE-D46E-7965-39F4C581B7E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DEDEEBE-EB2E-CC32-C9A1-E49967F2CD9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12647CE-7ADF-EA08-9E97-9C569D29517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EFBAA9E-7744-3BF3-CCBC-CE36A8C12563}"/>
              </a:ext>
            </a:extLst>
          </p:cNvPr>
          <p:cNvSpPr>
            <a:spLocks noGrp="1"/>
          </p:cNvSpPr>
          <p:nvPr>
            <p:ph type="dt" sz="half" idx="10"/>
          </p:nvPr>
        </p:nvSpPr>
        <p:spPr/>
        <p:txBody>
          <a:bodyPr/>
          <a:lstStyle/>
          <a:p>
            <a:fld id="{4CB3340A-7C1F-FE4F-A59F-976B8D1D8842}" type="datetimeFigureOut">
              <a:rPr lang="en-US" smtClean="0"/>
              <a:t>8/8/26</a:t>
            </a:fld>
            <a:endParaRPr lang="en-US"/>
          </a:p>
        </p:txBody>
      </p:sp>
      <p:sp>
        <p:nvSpPr>
          <p:cNvPr id="8" name="Footer Placeholder 7">
            <a:extLst>
              <a:ext uri="{FF2B5EF4-FFF2-40B4-BE49-F238E27FC236}">
                <a16:creationId xmlns:a16="http://schemas.microsoft.com/office/drawing/2014/main" id="{26470D18-DAAD-18F0-52D3-0C8C4C9E6C8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100B6E3-9D4F-8AF7-9DA9-65550BE4A190}"/>
              </a:ext>
            </a:extLst>
          </p:cNvPr>
          <p:cNvSpPr>
            <a:spLocks noGrp="1"/>
          </p:cNvSpPr>
          <p:nvPr>
            <p:ph type="sldNum" sz="quarter" idx="12"/>
          </p:nvPr>
        </p:nvSpPr>
        <p:spPr/>
        <p:txBody>
          <a:bodyPr/>
          <a:lstStyle/>
          <a:p>
            <a:fld id="{A6D4CBE7-491A-3548-B760-244F1BA7873E}" type="slidenum">
              <a:rPr lang="en-US" smtClean="0"/>
              <a:t>‹#›</a:t>
            </a:fld>
            <a:endParaRPr lang="en-US"/>
          </a:p>
        </p:txBody>
      </p:sp>
    </p:spTree>
    <p:extLst>
      <p:ext uri="{BB962C8B-B14F-4D97-AF65-F5344CB8AC3E}">
        <p14:creationId xmlns:p14="http://schemas.microsoft.com/office/powerpoint/2010/main" val="1941161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92D6D-2A27-11EC-5E91-0822CB33FEC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A3DEFF3-D1BD-EF6A-0F46-513C64157888}"/>
              </a:ext>
            </a:extLst>
          </p:cNvPr>
          <p:cNvSpPr>
            <a:spLocks noGrp="1"/>
          </p:cNvSpPr>
          <p:nvPr>
            <p:ph type="dt" sz="half" idx="10"/>
          </p:nvPr>
        </p:nvSpPr>
        <p:spPr/>
        <p:txBody>
          <a:bodyPr/>
          <a:lstStyle/>
          <a:p>
            <a:fld id="{4CB3340A-7C1F-FE4F-A59F-976B8D1D8842}" type="datetimeFigureOut">
              <a:rPr lang="en-US" smtClean="0"/>
              <a:t>8/8/26</a:t>
            </a:fld>
            <a:endParaRPr lang="en-US"/>
          </a:p>
        </p:txBody>
      </p:sp>
      <p:sp>
        <p:nvSpPr>
          <p:cNvPr id="4" name="Footer Placeholder 3">
            <a:extLst>
              <a:ext uri="{FF2B5EF4-FFF2-40B4-BE49-F238E27FC236}">
                <a16:creationId xmlns:a16="http://schemas.microsoft.com/office/drawing/2014/main" id="{882DBC1C-17AF-1AFE-4F88-C6323E0E181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1581550-8315-81F9-E745-70709BF3D054}"/>
              </a:ext>
            </a:extLst>
          </p:cNvPr>
          <p:cNvSpPr>
            <a:spLocks noGrp="1"/>
          </p:cNvSpPr>
          <p:nvPr>
            <p:ph type="sldNum" sz="quarter" idx="12"/>
          </p:nvPr>
        </p:nvSpPr>
        <p:spPr/>
        <p:txBody>
          <a:bodyPr/>
          <a:lstStyle/>
          <a:p>
            <a:fld id="{A6D4CBE7-491A-3548-B760-244F1BA7873E}" type="slidenum">
              <a:rPr lang="en-US" smtClean="0"/>
              <a:t>‹#›</a:t>
            </a:fld>
            <a:endParaRPr lang="en-US"/>
          </a:p>
        </p:txBody>
      </p:sp>
    </p:spTree>
    <p:extLst>
      <p:ext uri="{BB962C8B-B14F-4D97-AF65-F5344CB8AC3E}">
        <p14:creationId xmlns:p14="http://schemas.microsoft.com/office/powerpoint/2010/main" val="34901485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636AAE-58B9-38D0-A060-EE158E4588BC}"/>
              </a:ext>
            </a:extLst>
          </p:cNvPr>
          <p:cNvSpPr>
            <a:spLocks noGrp="1"/>
          </p:cNvSpPr>
          <p:nvPr>
            <p:ph type="dt" sz="half" idx="10"/>
          </p:nvPr>
        </p:nvSpPr>
        <p:spPr/>
        <p:txBody>
          <a:bodyPr/>
          <a:lstStyle/>
          <a:p>
            <a:fld id="{4CB3340A-7C1F-FE4F-A59F-976B8D1D8842}" type="datetimeFigureOut">
              <a:rPr lang="en-US" smtClean="0"/>
              <a:t>8/8/26</a:t>
            </a:fld>
            <a:endParaRPr lang="en-US"/>
          </a:p>
        </p:txBody>
      </p:sp>
      <p:sp>
        <p:nvSpPr>
          <p:cNvPr id="3" name="Footer Placeholder 2">
            <a:extLst>
              <a:ext uri="{FF2B5EF4-FFF2-40B4-BE49-F238E27FC236}">
                <a16:creationId xmlns:a16="http://schemas.microsoft.com/office/drawing/2014/main" id="{71E8BB12-E423-1DF9-4296-EA17F48D95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76AB777-B928-480D-DB24-E6AF23F4695F}"/>
              </a:ext>
            </a:extLst>
          </p:cNvPr>
          <p:cNvSpPr>
            <a:spLocks noGrp="1"/>
          </p:cNvSpPr>
          <p:nvPr>
            <p:ph type="sldNum" sz="quarter" idx="12"/>
          </p:nvPr>
        </p:nvSpPr>
        <p:spPr/>
        <p:txBody>
          <a:bodyPr/>
          <a:lstStyle/>
          <a:p>
            <a:fld id="{A6D4CBE7-491A-3548-B760-244F1BA7873E}" type="slidenum">
              <a:rPr lang="en-US" smtClean="0"/>
              <a:t>‹#›</a:t>
            </a:fld>
            <a:endParaRPr lang="en-US"/>
          </a:p>
        </p:txBody>
      </p:sp>
    </p:spTree>
    <p:extLst>
      <p:ext uri="{BB962C8B-B14F-4D97-AF65-F5344CB8AC3E}">
        <p14:creationId xmlns:p14="http://schemas.microsoft.com/office/powerpoint/2010/main" val="28675346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C6F96-9523-1410-EBE7-5EDA704B036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A9FE89E-8038-3F4C-4B28-90D42BF348A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D27CC16-8F51-C04F-D14E-FE4CA6B2C0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0E087A-57E6-C3F0-5BDA-2F206D3287E8}"/>
              </a:ext>
            </a:extLst>
          </p:cNvPr>
          <p:cNvSpPr>
            <a:spLocks noGrp="1"/>
          </p:cNvSpPr>
          <p:nvPr>
            <p:ph type="dt" sz="half" idx="10"/>
          </p:nvPr>
        </p:nvSpPr>
        <p:spPr/>
        <p:txBody>
          <a:bodyPr/>
          <a:lstStyle/>
          <a:p>
            <a:fld id="{4CB3340A-7C1F-FE4F-A59F-976B8D1D8842}" type="datetimeFigureOut">
              <a:rPr lang="en-US" smtClean="0"/>
              <a:t>8/8/26</a:t>
            </a:fld>
            <a:endParaRPr lang="en-US"/>
          </a:p>
        </p:txBody>
      </p:sp>
      <p:sp>
        <p:nvSpPr>
          <p:cNvPr id="6" name="Footer Placeholder 5">
            <a:extLst>
              <a:ext uri="{FF2B5EF4-FFF2-40B4-BE49-F238E27FC236}">
                <a16:creationId xmlns:a16="http://schemas.microsoft.com/office/drawing/2014/main" id="{AD92CD59-19CB-F327-B3E4-C5B4817F940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387C28-2A62-0C39-5996-FF0E80F2848C}"/>
              </a:ext>
            </a:extLst>
          </p:cNvPr>
          <p:cNvSpPr>
            <a:spLocks noGrp="1"/>
          </p:cNvSpPr>
          <p:nvPr>
            <p:ph type="sldNum" sz="quarter" idx="12"/>
          </p:nvPr>
        </p:nvSpPr>
        <p:spPr/>
        <p:txBody>
          <a:bodyPr/>
          <a:lstStyle/>
          <a:p>
            <a:fld id="{A6D4CBE7-491A-3548-B760-244F1BA7873E}" type="slidenum">
              <a:rPr lang="en-US" smtClean="0"/>
              <a:t>‹#›</a:t>
            </a:fld>
            <a:endParaRPr lang="en-US"/>
          </a:p>
        </p:txBody>
      </p:sp>
    </p:spTree>
    <p:extLst>
      <p:ext uri="{BB962C8B-B14F-4D97-AF65-F5344CB8AC3E}">
        <p14:creationId xmlns:p14="http://schemas.microsoft.com/office/powerpoint/2010/main" val="1213401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341B3-6EF3-F3A3-12D2-54B8CCDFDD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657AF62-791A-B076-0BB7-DDE23D3749F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BF97DE2-4AD8-D5A9-E83C-180AA20B36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42723D-D69D-B720-3357-BC6DA355CD24}"/>
              </a:ext>
            </a:extLst>
          </p:cNvPr>
          <p:cNvSpPr>
            <a:spLocks noGrp="1"/>
          </p:cNvSpPr>
          <p:nvPr>
            <p:ph type="dt" sz="half" idx="10"/>
          </p:nvPr>
        </p:nvSpPr>
        <p:spPr/>
        <p:txBody>
          <a:bodyPr/>
          <a:lstStyle/>
          <a:p>
            <a:fld id="{4CB3340A-7C1F-FE4F-A59F-976B8D1D8842}" type="datetimeFigureOut">
              <a:rPr lang="en-US" smtClean="0"/>
              <a:t>8/8/26</a:t>
            </a:fld>
            <a:endParaRPr lang="en-US"/>
          </a:p>
        </p:txBody>
      </p:sp>
      <p:sp>
        <p:nvSpPr>
          <p:cNvPr id="6" name="Footer Placeholder 5">
            <a:extLst>
              <a:ext uri="{FF2B5EF4-FFF2-40B4-BE49-F238E27FC236}">
                <a16:creationId xmlns:a16="http://schemas.microsoft.com/office/drawing/2014/main" id="{27EF3622-D660-04C2-962A-0CD30859898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F8AB8C-D2BA-F241-D2FE-316B958612CB}"/>
              </a:ext>
            </a:extLst>
          </p:cNvPr>
          <p:cNvSpPr>
            <a:spLocks noGrp="1"/>
          </p:cNvSpPr>
          <p:nvPr>
            <p:ph type="sldNum" sz="quarter" idx="12"/>
          </p:nvPr>
        </p:nvSpPr>
        <p:spPr/>
        <p:txBody>
          <a:bodyPr/>
          <a:lstStyle/>
          <a:p>
            <a:fld id="{A6D4CBE7-491A-3548-B760-244F1BA7873E}" type="slidenum">
              <a:rPr lang="en-US" smtClean="0"/>
              <a:t>‹#›</a:t>
            </a:fld>
            <a:endParaRPr lang="en-US"/>
          </a:p>
        </p:txBody>
      </p:sp>
    </p:spTree>
    <p:extLst>
      <p:ext uri="{BB962C8B-B14F-4D97-AF65-F5344CB8AC3E}">
        <p14:creationId xmlns:p14="http://schemas.microsoft.com/office/powerpoint/2010/main" val="34011519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3F741-5E96-B7FF-5A87-D541076851B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2083613-95B6-5528-BACB-79CFD3835B7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0BA2B3-8993-37E4-9399-3493F9897090}"/>
              </a:ext>
            </a:extLst>
          </p:cNvPr>
          <p:cNvSpPr>
            <a:spLocks noGrp="1"/>
          </p:cNvSpPr>
          <p:nvPr>
            <p:ph type="dt" sz="half" idx="10"/>
          </p:nvPr>
        </p:nvSpPr>
        <p:spPr/>
        <p:txBody>
          <a:bodyPr/>
          <a:lstStyle/>
          <a:p>
            <a:fld id="{4CB3340A-7C1F-FE4F-A59F-976B8D1D8842}" type="datetimeFigureOut">
              <a:rPr lang="en-US" smtClean="0"/>
              <a:t>8/8/26</a:t>
            </a:fld>
            <a:endParaRPr lang="en-US"/>
          </a:p>
        </p:txBody>
      </p:sp>
      <p:sp>
        <p:nvSpPr>
          <p:cNvPr id="5" name="Footer Placeholder 4">
            <a:extLst>
              <a:ext uri="{FF2B5EF4-FFF2-40B4-BE49-F238E27FC236}">
                <a16:creationId xmlns:a16="http://schemas.microsoft.com/office/drawing/2014/main" id="{A0C58C76-8BF0-B5C5-4557-7C0AED6A66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487FD0-6726-480C-788C-A2B4F2E49095}"/>
              </a:ext>
            </a:extLst>
          </p:cNvPr>
          <p:cNvSpPr>
            <a:spLocks noGrp="1"/>
          </p:cNvSpPr>
          <p:nvPr>
            <p:ph type="sldNum" sz="quarter" idx="12"/>
          </p:nvPr>
        </p:nvSpPr>
        <p:spPr/>
        <p:txBody>
          <a:bodyPr/>
          <a:lstStyle/>
          <a:p>
            <a:fld id="{A6D4CBE7-491A-3548-B760-244F1BA7873E}" type="slidenum">
              <a:rPr lang="en-US" smtClean="0"/>
              <a:t>‹#›</a:t>
            </a:fld>
            <a:endParaRPr lang="en-US"/>
          </a:p>
        </p:txBody>
      </p:sp>
    </p:spTree>
    <p:extLst>
      <p:ext uri="{BB962C8B-B14F-4D97-AF65-F5344CB8AC3E}">
        <p14:creationId xmlns:p14="http://schemas.microsoft.com/office/powerpoint/2010/main" val="37032861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32CF9CF-3EC1-5E73-DE46-D11AD1B8072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3C41F1D-55F6-8956-FEE1-1F67B35C415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B39A72-6799-E519-4009-4E039C91CD3F}"/>
              </a:ext>
            </a:extLst>
          </p:cNvPr>
          <p:cNvSpPr>
            <a:spLocks noGrp="1"/>
          </p:cNvSpPr>
          <p:nvPr>
            <p:ph type="dt" sz="half" idx="10"/>
          </p:nvPr>
        </p:nvSpPr>
        <p:spPr/>
        <p:txBody>
          <a:bodyPr/>
          <a:lstStyle/>
          <a:p>
            <a:fld id="{4CB3340A-7C1F-FE4F-A59F-976B8D1D8842}" type="datetimeFigureOut">
              <a:rPr lang="en-US" smtClean="0"/>
              <a:t>8/8/26</a:t>
            </a:fld>
            <a:endParaRPr lang="en-US"/>
          </a:p>
        </p:txBody>
      </p:sp>
      <p:sp>
        <p:nvSpPr>
          <p:cNvPr id="5" name="Footer Placeholder 4">
            <a:extLst>
              <a:ext uri="{FF2B5EF4-FFF2-40B4-BE49-F238E27FC236}">
                <a16:creationId xmlns:a16="http://schemas.microsoft.com/office/drawing/2014/main" id="{B19D9B56-A446-9EA2-E1FA-D7569B6DA3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1EA398-C915-50E7-8292-59651D32AB80}"/>
              </a:ext>
            </a:extLst>
          </p:cNvPr>
          <p:cNvSpPr>
            <a:spLocks noGrp="1"/>
          </p:cNvSpPr>
          <p:nvPr>
            <p:ph type="sldNum" sz="quarter" idx="12"/>
          </p:nvPr>
        </p:nvSpPr>
        <p:spPr/>
        <p:txBody>
          <a:bodyPr/>
          <a:lstStyle/>
          <a:p>
            <a:fld id="{A6D4CBE7-491A-3548-B760-244F1BA7873E}" type="slidenum">
              <a:rPr lang="en-US" smtClean="0"/>
              <a:t>‹#›</a:t>
            </a:fld>
            <a:endParaRPr lang="en-US"/>
          </a:p>
        </p:txBody>
      </p:sp>
    </p:spTree>
    <p:extLst>
      <p:ext uri="{BB962C8B-B14F-4D97-AF65-F5344CB8AC3E}">
        <p14:creationId xmlns:p14="http://schemas.microsoft.com/office/powerpoint/2010/main" val="4421005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59C542-E1E9-E57A-FD5E-6A3901AF7BB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B3807DA-786F-3365-CD70-01B33B713F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289A02-7EFE-142E-21A1-0CD54D02B96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CB3340A-7C1F-FE4F-A59F-976B8D1D8842}" type="datetimeFigureOut">
              <a:rPr lang="en-US" smtClean="0"/>
              <a:t>8/8/26</a:t>
            </a:fld>
            <a:endParaRPr lang="en-US"/>
          </a:p>
        </p:txBody>
      </p:sp>
      <p:sp>
        <p:nvSpPr>
          <p:cNvPr id="5" name="Footer Placeholder 4">
            <a:extLst>
              <a:ext uri="{FF2B5EF4-FFF2-40B4-BE49-F238E27FC236}">
                <a16:creationId xmlns:a16="http://schemas.microsoft.com/office/drawing/2014/main" id="{8B4B72E3-0643-8E62-F41C-152566CCD8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E0A79E5-B9C5-C1B5-6810-BBCD4BBBCA4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6D4CBE7-491A-3548-B760-244F1BA7873E}" type="slidenum">
              <a:rPr lang="en-US" smtClean="0"/>
              <a:t>‹#›</a:t>
            </a:fld>
            <a:endParaRPr lang="en-US"/>
          </a:p>
        </p:txBody>
      </p:sp>
    </p:spTree>
    <p:extLst>
      <p:ext uri="{BB962C8B-B14F-4D97-AF65-F5344CB8AC3E}">
        <p14:creationId xmlns:p14="http://schemas.microsoft.com/office/powerpoint/2010/main" val="5712784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38B14-3B22-5349-AA83-BDCF47B69267}"/>
              </a:ext>
            </a:extLst>
          </p:cNvPr>
          <p:cNvSpPr>
            <a:spLocks noGrp="1"/>
          </p:cNvSpPr>
          <p:nvPr>
            <p:ph type="ctrTitle"/>
          </p:nvPr>
        </p:nvSpPr>
        <p:spPr/>
        <p:txBody>
          <a:bodyPr/>
          <a:lstStyle/>
          <a:p>
            <a:r>
              <a:rPr lang="en-US" dirty="0"/>
              <a:t>School Registration system</a:t>
            </a:r>
            <a:br>
              <a:rPr lang="en-US" dirty="0"/>
            </a:br>
            <a:endParaRPr lang="en-US" dirty="0"/>
          </a:p>
        </p:txBody>
      </p:sp>
      <p:sp>
        <p:nvSpPr>
          <p:cNvPr id="3" name="Subtitle 2">
            <a:extLst>
              <a:ext uri="{FF2B5EF4-FFF2-40B4-BE49-F238E27FC236}">
                <a16:creationId xmlns:a16="http://schemas.microsoft.com/office/drawing/2014/main" id="{E6C34412-46BC-F217-CDF4-1B8724C63B52}"/>
              </a:ext>
            </a:extLst>
          </p:cNvPr>
          <p:cNvSpPr>
            <a:spLocks noGrp="1"/>
          </p:cNvSpPr>
          <p:nvPr>
            <p:ph type="subTitle" idx="1"/>
          </p:nvPr>
        </p:nvSpPr>
        <p:spPr/>
        <p:txBody>
          <a:bodyPr>
            <a:normAutofit/>
          </a:bodyPr>
          <a:lstStyle/>
          <a:p>
            <a:r>
              <a:rPr lang="en-US" dirty="0"/>
              <a:t>Michael Jan</a:t>
            </a:r>
          </a:p>
          <a:p>
            <a:r>
              <a:rPr lang="en-US" dirty="0"/>
              <a:t>CS5254</a:t>
            </a:r>
          </a:p>
          <a:p>
            <a:r>
              <a:rPr lang="en-US" dirty="0"/>
              <a:t>Vanderbilt University</a:t>
            </a:r>
          </a:p>
        </p:txBody>
      </p:sp>
    </p:spTree>
    <p:extLst>
      <p:ext uri="{BB962C8B-B14F-4D97-AF65-F5344CB8AC3E}">
        <p14:creationId xmlns:p14="http://schemas.microsoft.com/office/powerpoint/2010/main" val="34040145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9AB5A-80DF-04FD-94B4-41EB8B37CAAD}"/>
              </a:ext>
            </a:extLst>
          </p:cNvPr>
          <p:cNvSpPr>
            <a:spLocks noGrp="1"/>
          </p:cNvSpPr>
          <p:nvPr>
            <p:ph type="title"/>
          </p:nvPr>
        </p:nvSpPr>
        <p:spPr/>
        <p:txBody>
          <a:bodyPr/>
          <a:lstStyle/>
          <a:p>
            <a:r>
              <a:rPr lang="en-US" dirty="0"/>
              <a:t>Workflows:</a:t>
            </a:r>
          </a:p>
        </p:txBody>
      </p:sp>
      <p:sp>
        <p:nvSpPr>
          <p:cNvPr id="3" name="Content Placeholder 2">
            <a:extLst>
              <a:ext uri="{FF2B5EF4-FFF2-40B4-BE49-F238E27FC236}">
                <a16:creationId xmlns:a16="http://schemas.microsoft.com/office/drawing/2014/main" id="{806C431E-0FE2-736E-8C5F-47C0DDA68816}"/>
              </a:ext>
            </a:extLst>
          </p:cNvPr>
          <p:cNvSpPr>
            <a:spLocks noGrp="1"/>
          </p:cNvSpPr>
          <p:nvPr>
            <p:ph idx="1"/>
          </p:nvPr>
        </p:nvSpPr>
        <p:spPr/>
        <p:txBody>
          <a:bodyPr/>
          <a:lstStyle/>
          <a:p>
            <a:pPr marL="0" lvl="0" indent="0">
              <a:buNone/>
            </a:pPr>
            <a:r>
              <a:rPr lang="en-US" dirty="0"/>
              <a:t>1. Registration</a:t>
            </a:r>
          </a:p>
          <a:p>
            <a:pPr marL="0" lvl="0" indent="0">
              <a:buNone/>
            </a:pPr>
            <a:r>
              <a:rPr lang="en-US" dirty="0"/>
              <a:t>2. Professor approval and materials assigned</a:t>
            </a:r>
          </a:p>
          <a:p>
            <a:pPr marL="0" lvl="0" indent="0">
              <a:buNone/>
            </a:pPr>
            <a:r>
              <a:rPr lang="en-US" dirty="0"/>
              <a:t>3. Billing and student payment</a:t>
            </a:r>
          </a:p>
          <a:p>
            <a:endParaRPr lang="en-US" dirty="0"/>
          </a:p>
        </p:txBody>
      </p:sp>
    </p:spTree>
    <p:extLst>
      <p:ext uri="{BB962C8B-B14F-4D97-AF65-F5344CB8AC3E}">
        <p14:creationId xmlns:p14="http://schemas.microsoft.com/office/powerpoint/2010/main" val="3074892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F29ACCC-1E82-AC66-6048-D249B54E5924}"/>
              </a:ext>
            </a:extLst>
          </p:cNvPr>
          <p:cNvPicPr>
            <a:picLocks noChangeAspect="1"/>
          </p:cNvPicPr>
          <p:nvPr/>
        </p:nvPicPr>
        <p:blipFill>
          <a:blip r:embed="rId2"/>
          <a:stretch>
            <a:fillRect/>
          </a:stretch>
        </p:blipFill>
        <p:spPr>
          <a:xfrm>
            <a:off x="1905000" y="0"/>
            <a:ext cx="7772400" cy="6359236"/>
          </a:xfrm>
          <a:prstGeom prst="rect">
            <a:avLst/>
          </a:prstGeom>
        </p:spPr>
      </p:pic>
    </p:spTree>
    <p:extLst>
      <p:ext uri="{BB962C8B-B14F-4D97-AF65-F5344CB8AC3E}">
        <p14:creationId xmlns:p14="http://schemas.microsoft.com/office/powerpoint/2010/main" val="10430797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4CEB135-4C88-9604-A84B-7CCF686E8BAA}"/>
              </a:ext>
            </a:extLst>
          </p:cNvPr>
          <p:cNvPicPr>
            <a:picLocks noChangeAspect="1"/>
          </p:cNvPicPr>
          <p:nvPr/>
        </p:nvPicPr>
        <p:blipFill>
          <a:blip r:embed="rId2"/>
          <a:stretch>
            <a:fillRect/>
          </a:stretch>
        </p:blipFill>
        <p:spPr>
          <a:xfrm>
            <a:off x="952500" y="0"/>
            <a:ext cx="10287000" cy="6858000"/>
          </a:xfrm>
          <a:prstGeom prst="rect">
            <a:avLst/>
          </a:prstGeom>
        </p:spPr>
      </p:pic>
    </p:spTree>
    <p:extLst>
      <p:ext uri="{BB962C8B-B14F-4D97-AF65-F5344CB8AC3E}">
        <p14:creationId xmlns:p14="http://schemas.microsoft.com/office/powerpoint/2010/main" val="3360818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E670F-4F3D-0398-FD83-C97153B17F8F}"/>
              </a:ext>
            </a:extLst>
          </p:cNvPr>
          <p:cNvSpPr>
            <a:spLocks noGrp="1"/>
          </p:cNvSpPr>
          <p:nvPr>
            <p:ph type="title"/>
          </p:nvPr>
        </p:nvSpPr>
        <p:spPr/>
        <p:txBody>
          <a:bodyPr/>
          <a:lstStyle/>
          <a:p>
            <a:r>
              <a:rPr lang="en-US" dirty="0"/>
              <a:t>Events</a:t>
            </a:r>
          </a:p>
        </p:txBody>
      </p:sp>
      <p:sp>
        <p:nvSpPr>
          <p:cNvPr id="3" name="Content Placeholder 2">
            <a:extLst>
              <a:ext uri="{FF2B5EF4-FFF2-40B4-BE49-F238E27FC236}">
                <a16:creationId xmlns:a16="http://schemas.microsoft.com/office/drawing/2014/main" id="{84EFAD0C-12E0-5159-1015-959B3B0569E1}"/>
              </a:ext>
            </a:extLst>
          </p:cNvPr>
          <p:cNvSpPr>
            <a:spLocks noGrp="1"/>
          </p:cNvSpPr>
          <p:nvPr>
            <p:ph idx="1"/>
          </p:nvPr>
        </p:nvSpPr>
        <p:spPr/>
        <p:txBody>
          <a:bodyPr>
            <a:normAutofit fontScale="92500" lnSpcReduction="10000"/>
          </a:bodyPr>
          <a:lstStyle/>
          <a:p>
            <a:r>
              <a:rPr lang="en-US" dirty="0"/>
              <a:t>Happy Event paths:</a:t>
            </a:r>
          </a:p>
          <a:p>
            <a:pPr lvl="1"/>
            <a:r>
              <a:rPr lang="en-US" dirty="0" err="1"/>
              <a:t>AsyncEnrollmentEvent</a:t>
            </a:r>
            <a:endParaRPr lang="en-US" dirty="0"/>
          </a:p>
          <a:p>
            <a:pPr lvl="2"/>
            <a:r>
              <a:rPr lang="en-US" dirty="0"/>
              <a:t>Created by Registration Service and consumed by Approval Worker</a:t>
            </a:r>
          </a:p>
          <a:p>
            <a:pPr lvl="1"/>
            <a:r>
              <a:rPr lang="en-US" dirty="0" err="1"/>
              <a:t>AsyncApprovalEvent</a:t>
            </a:r>
            <a:endParaRPr lang="en-US" dirty="0"/>
          </a:p>
          <a:p>
            <a:pPr lvl="2"/>
            <a:r>
              <a:rPr lang="en-US" dirty="0"/>
              <a:t>Created by Approval worker and consumed by Billing Worker</a:t>
            </a:r>
          </a:p>
          <a:p>
            <a:r>
              <a:rPr lang="en-US" dirty="0"/>
              <a:t>Not happy path event</a:t>
            </a:r>
          </a:p>
          <a:p>
            <a:pPr lvl="1"/>
            <a:r>
              <a:rPr lang="en-US" dirty="0" err="1"/>
              <a:t>DeadLetterEvent</a:t>
            </a:r>
            <a:endParaRPr lang="en-US" dirty="0"/>
          </a:p>
          <a:p>
            <a:pPr lvl="2"/>
            <a:r>
              <a:rPr lang="en-US" dirty="0"/>
              <a:t>Created when retry attempts have failed</a:t>
            </a:r>
          </a:p>
          <a:p>
            <a:r>
              <a:rPr lang="en-US" i="1" dirty="0"/>
              <a:t>Benefits:</a:t>
            </a:r>
          </a:p>
          <a:p>
            <a:pPr lvl="1"/>
            <a:r>
              <a:rPr lang="en-US" i="1" dirty="0"/>
              <a:t>Components communicate through events instead of direct method calls.</a:t>
            </a:r>
          </a:p>
          <a:p>
            <a:pPr lvl="1"/>
            <a:r>
              <a:rPr lang="en-US" i="1" dirty="0"/>
              <a:t>Reduces coupling between workflow stages.</a:t>
            </a:r>
          </a:p>
          <a:p>
            <a:pPr lvl="1"/>
            <a:r>
              <a:rPr lang="en-US" i="1" dirty="0"/>
              <a:t>Makes the system easier to extend without rewriting existing components.</a:t>
            </a:r>
          </a:p>
          <a:p>
            <a:pPr lvl="1"/>
            <a:endParaRPr lang="en-US" dirty="0"/>
          </a:p>
        </p:txBody>
      </p:sp>
    </p:spTree>
    <p:extLst>
      <p:ext uri="{BB962C8B-B14F-4D97-AF65-F5344CB8AC3E}">
        <p14:creationId xmlns:p14="http://schemas.microsoft.com/office/powerpoint/2010/main" val="20320786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87063-3383-12DD-D941-441E30A535E0}"/>
              </a:ext>
            </a:extLst>
          </p:cNvPr>
          <p:cNvSpPr>
            <a:spLocks noGrp="1"/>
          </p:cNvSpPr>
          <p:nvPr>
            <p:ph type="title"/>
          </p:nvPr>
        </p:nvSpPr>
        <p:spPr/>
        <p:txBody>
          <a:bodyPr/>
          <a:lstStyle/>
          <a:p>
            <a:r>
              <a:rPr lang="en-US" dirty="0"/>
              <a:t>Threaded Workers</a:t>
            </a:r>
          </a:p>
        </p:txBody>
      </p:sp>
      <p:sp>
        <p:nvSpPr>
          <p:cNvPr id="3" name="Content Placeholder 2">
            <a:extLst>
              <a:ext uri="{FF2B5EF4-FFF2-40B4-BE49-F238E27FC236}">
                <a16:creationId xmlns:a16="http://schemas.microsoft.com/office/drawing/2014/main" id="{E56D096F-4C8F-76AB-9FEE-3D4C0F336B75}"/>
              </a:ext>
            </a:extLst>
          </p:cNvPr>
          <p:cNvSpPr>
            <a:spLocks noGrp="1"/>
          </p:cNvSpPr>
          <p:nvPr>
            <p:ph idx="1"/>
          </p:nvPr>
        </p:nvSpPr>
        <p:spPr/>
        <p:txBody>
          <a:bodyPr>
            <a:normAutofit fontScale="85000" lnSpcReduction="20000"/>
          </a:bodyPr>
          <a:lstStyle/>
          <a:p>
            <a:r>
              <a:rPr lang="en-US" b="1" dirty="0"/>
              <a:t>Approval Worker (</a:t>
            </a:r>
            <a:r>
              <a:rPr lang="en-US" dirty="0" err="1">
                <a:latin typeface="Courier New" panose="02070309020205020404" pitchFamily="49" charset="0"/>
                <a:cs typeface="Courier New" panose="02070309020205020404" pitchFamily="49" charset="0"/>
              </a:rPr>
              <a:t>AsyncApprovalWorker</a:t>
            </a:r>
            <a:r>
              <a:rPr lang="en-US" b="1" dirty="0"/>
              <a:t>)</a:t>
            </a:r>
          </a:p>
          <a:p>
            <a:pPr lvl="1"/>
            <a:r>
              <a:rPr lang="en-US" dirty="0"/>
              <a:t>Waits for an </a:t>
            </a:r>
            <a:r>
              <a:rPr lang="en-US" dirty="0" err="1"/>
              <a:t>AsyncEnrollmentEvent</a:t>
            </a:r>
            <a:r>
              <a:rPr lang="en-US" dirty="0"/>
              <a:t>. </a:t>
            </a:r>
          </a:p>
          <a:p>
            <a:pPr lvl="1"/>
            <a:r>
              <a:rPr lang="en-US" dirty="0"/>
              <a:t>Performs the professor-approval stage. </a:t>
            </a:r>
          </a:p>
          <a:p>
            <a:pPr lvl="1"/>
            <a:r>
              <a:rPr lang="en-US" dirty="0"/>
              <a:t>Updates workflow status. </a:t>
            </a:r>
          </a:p>
          <a:p>
            <a:pPr lvl="1"/>
            <a:r>
              <a:rPr lang="en-US" dirty="0"/>
              <a:t>Creates or publishes an </a:t>
            </a:r>
            <a:r>
              <a:rPr lang="en-US" dirty="0" err="1"/>
              <a:t>AsyncApprovalEvent</a:t>
            </a:r>
            <a:r>
              <a:rPr lang="en-US" dirty="0"/>
              <a:t>. </a:t>
            </a:r>
          </a:p>
          <a:p>
            <a:r>
              <a:rPr lang="en-US" b="1" dirty="0"/>
              <a:t>Billing Worker (</a:t>
            </a:r>
            <a:r>
              <a:rPr lang="en-US" dirty="0" err="1">
                <a:latin typeface="Courier New" panose="02070309020205020404" pitchFamily="49" charset="0"/>
                <a:cs typeface="Courier New" panose="02070309020205020404" pitchFamily="49" charset="0"/>
              </a:rPr>
              <a:t>AsyncBillingWorker</a:t>
            </a:r>
            <a:r>
              <a:rPr lang="en-US" b="1" dirty="0"/>
              <a:t>)</a:t>
            </a:r>
          </a:p>
          <a:p>
            <a:pPr lvl="1"/>
            <a:r>
              <a:rPr lang="en-US" dirty="0"/>
              <a:t>Waits for an approved registration event. </a:t>
            </a:r>
          </a:p>
          <a:p>
            <a:pPr lvl="1"/>
            <a:r>
              <a:rPr lang="en-US" dirty="0"/>
              <a:t>Performs billing or invoice processing. </a:t>
            </a:r>
          </a:p>
          <a:p>
            <a:pPr lvl="1"/>
            <a:r>
              <a:rPr lang="en-US" dirty="0"/>
              <a:t>Updates workflow status. </a:t>
            </a:r>
          </a:p>
          <a:p>
            <a:pPr lvl="1"/>
            <a:r>
              <a:rPr lang="en-US" dirty="0"/>
              <a:t>Passes the registration to the next stage.</a:t>
            </a:r>
          </a:p>
          <a:p>
            <a:r>
              <a:rPr lang="en-US" b="1" i="1" dirty="0"/>
              <a:t>Benefits</a:t>
            </a:r>
          </a:p>
          <a:p>
            <a:pPr lvl="1"/>
            <a:r>
              <a:rPr lang="en-US" i="1" dirty="0"/>
              <a:t>Domain services enforce registration, approval, billing, and licensing rules.</a:t>
            </a:r>
          </a:p>
          <a:p>
            <a:pPr lvl="1"/>
            <a:r>
              <a:rPr lang="en-US" i="1" dirty="0"/>
              <a:t>Workers control when operations happen, not how business rules are enforced.</a:t>
            </a:r>
          </a:p>
          <a:p>
            <a:pPr lvl="1"/>
            <a:r>
              <a:rPr lang="en-US" i="1" dirty="0"/>
              <a:t>Keeps threading code from becoming mixed with the core object model.</a:t>
            </a:r>
          </a:p>
          <a:p>
            <a:endParaRPr lang="en-US" dirty="0"/>
          </a:p>
          <a:p>
            <a:endParaRPr lang="en-US" dirty="0"/>
          </a:p>
          <a:p>
            <a:endParaRPr lang="en-US" dirty="0"/>
          </a:p>
        </p:txBody>
      </p:sp>
    </p:spTree>
    <p:extLst>
      <p:ext uri="{BB962C8B-B14F-4D97-AF65-F5344CB8AC3E}">
        <p14:creationId xmlns:p14="http://schemas.microsoft.com/office/powerpoint/2010/main" val="5678065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40102-ED25-F4B6-A3F0-1B65C93E07FA}"/>
              </a:ext>
            </a:extLst>
          </p:cNvPr>
          <p:cNvSpPr>
            <a:spLocks noGrp="1"/>
          </p:cNvSpPr>
          <p:nvPr>
            <p:ph type="title"/>
          </p:nvPr>
        </p:nvSpPr>
        <p:spPr/>
        <p:txBody>
          <a:bodyPr/>
          <a:lstStyle/>
          <a:p>
            <a:r>
              <a:rPr lang="en-US" dirty="0"/>
              <a:t>Object Ownership</a:t>
            </a:r>
          </a:p>
        </p:txBody>
      </p:sp>
      <p:sp>
        <p:nvSpPr>
          <p:cNvPr id="3" name="Content Placeholder 2">
            <a:extLst>
              <a:ext uri="{FF2B5EF4-FFF2-40B4-BE49-F238E27FC236}">
                <a16:creationId xmlns:a16="http://schemas.microsoft.com/office/drawing/2014/main" id="{528111DA-D3B0-719C-91C2-5D087D1240F9}"/>
              </a:ext>
            </a:extLst>
          </p:cNvPr>
          <p:cNvSpPr>
            <a:spLocks noGrp="1"/>
          </p:cNvSpPr>
          <p:nvPr>
            <p:ph idx="1"/>
          </p:nvPr>
        </p:nvSpPr>
        <p:spPr/>
        <p:txBody>
          <a:bodyPr>
            <a:normAutofit fontScale="70000" lnSpcReduction="20000"/>
          </a:bodyPr>
          <a:lstStyle/>
          <a:p>
            <a:r>
              <a:rPr lang="en-US" b="1" dirty="0"/>
              <a:t>Domain Objects</a:t>
            </a:r>
          </a:p>
          <a:p>
            <a:pPr lvl="1"/>
            <a:r>
              <a:rPr lang="en-US" dirty="0"/>
              <a:t>Own and protect their </a:t>
            </a:r>
            <a:r>
              <a:rPr lang="en-US" b="1" dirty="0"/>
              <a:t>business state</a:t>
            </a:r>
            <a:r>
              <a:rPr lang="en-US" dirty="0"/>
              <a:t> </a:t>
            </a:r>
          </a:p>
          <a:p>
            <a:pPr lvl="1"/>
            <a:r>
              <a:rPr lang="en-US" dirty="0"/>
              <a:t>Enforce business rules and invariants </a:t>
            </a:r>
          </a:p>
          <a:p>
            <a:pPr lvl="1"/>
            <a:r>
              <a:rPr lang="en-US" dirty="0"/>
              <a:t>Examples: Course, Student, Invoice</a:t>
            </a:r>
          </a:p>
          <a:p>
            <a:r>
              <a:rPr lang="en-US" b="1" dirty="0"/>
              <a:t>Services</a:t>
            </a:r>
          </a:p>
          <a:p>
            <a:pPr lvl="1"/>
            <a:r>
              <a:rPr lang="en-US" dirty="0"/>
              <a:t>Perform business operations </a:t>
            </a:r>
          </a:p>
          <a:p>
            <a:pPr lvl="1"/>
            <a:r>
              <a:rPr lang="en-US" dirty="0"/>
              <a:t>Coordinate changes between objects </a:t>
            </a:r>
          </a:p>
          <a:p>
            <a:pPr lvl="1"/>
            <a:r>
              <a:rPr lang="en-US" dirty="0"/>
              <a:t>Examples: Billing, Licensing, Approval</a:t>
            </a:r>
          </a:p>
          <a:p>
            <a:r>
              <a:rPr lang="en-US" b="1" dirty="0"/>
              <a:t>Workers</a:t>
            </a:r>
          </a:p>
          <a:p>
            <a:pPr lvl="1"/>
            <a:r>
              <a:rPr lang="en-US" dirty="0"/>
              <a:t>Process events asynchronously </a:t>
            </a:r>
          </a:p>
          <a:p>
            <a:pPr lvl="1"/>
            <a:r>
              <a:rPr lang="en-US" b="1" dirty="0"/>
              <a:t>Do not own business data</a:t>
            </a:r>
            <a:r>
              <a:rPr lang="en-US" dirty="0"/>
              <a:t> </a:t>
            </a:r>
          </a:p>
          <a:p>
            <a:pPr lvl="1"/>
            <a:r>
              <a:rPr lang="en-US" dirty="0"/>
              <a:t>Coordinate workflow execution</a:t>
            </a:r>
          </a:p>
          <a:p>
            <a:r>
              <a:rPr lang="en-US" b="1" dirty="0"/>
              <a:t>Events</a:t>
            </a:r>
          </a:p>
          <a:p>
            <a:pPr lvl="1"/>
            <a:r>
              <a:rPr lang="en-US" dirty="0"/>
              <a:t>Immutable messages between workers </a:t>
            </a:r>
          </a:p>
          <a:p>
            <a:pPr lvl="1"/>
            <a:r>
              <a:rPr lang="en-US" dirty="0"/>
              <a:t>Carry workflow information </a:t>
            </a:r>
          </a:p>
          <a:p>
            <a:pPr lvl="1"/>
            <a:r>
              <a:rPr lang="en-US" dirty="0"/>
              <a:t>Enable loose coupling</a:t>
            </a:r>
          </a:p>
          <a:p>
            <a:pPr lvl="1"/>
            <a:endParaRPr lang="en-US" dirty="0"/>
          </a:p>
          <a:p>
            <a:pPr lvl="1"/>
            <a:endParaRPr lang="en-US" dirty="0"/>
          </a:p>
          <a:p>
            <a:endParaRPr lang="en-US" dirty="0"/>
          </a:p>
          <a:p>
            <a:endParaRPr lang="en-US" dirty="0"/>
          </a:p>
        </p:txBody>
      </p:sp>
    </p:spTree>
    <p:extLst>
      <p:ext uri="{BB962C8B-B14F-4D97-AF65-F5344CB8AC3E}">
        <p14:creationId xmlns:p14="http://schemas.microsoft.com/office/powerpoint/2010/main" val="33977646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DCD92-AED8-F696-C584-907970201EC6}"/>
              </a:ext>
            </a:extLst>
          </p:cNvPr>
          <p:cNvSpPr>
            <a:spLocks noGrp="1"/>
          </p:cNvSpPr>
          <p:nvPr>
            <p:ph type="title"/>
          </p:nvPr>
        </p:nvSpPr>
        <p:spPr/>
        <p:txBody>
          <a:bodyPr/>
          <a:lstStyle/>
          <a:p>
            <a:r>
              <a:rPr lang="en-US" b="1" dirty="0"/>
              <a:t>Automated Validation Framework</a:t>
            </a:r>
            <a:br>
              <a:rPr lang="en-US" b="1" dirty="0"/>
            </a:br>
            <a:endParaRPr lang="en-US" dirty="0"/>
          </a:p>
        </p:txBody>
      </p:sp>
      <p:sp>
        <p:nvSpPr>
          <p:cNvPr id="3" name="Content Placeholder 2">
            <a:extLst>
              <a:ext uri="{FF2B5EF4-FFF2-40B4-BE49-F238E27FC236}">
                <a16:creationId xmlns:a16="http://schemas.microsoft.com/office/drawing/2014/main" id="{9D3B904A-899A-CEF5-A71C-F3F390E02A0B}"/>
              </a:ext>
            </a:extLst>
          </p:cNvPr>
          <p:cNvSpPr>
            <a:spLocks noGrp="1"/>
          </p:cNvSpPr>
          <p:nvPr>
            <p:ph idx="1"/>
          </p:nvPr>
        </p:nvSpPr>
        <p:spPr/>
        <p:txBody>
          <a:bodyPr/>
          <a:lstStyle/>
          <a:p>
            <a:pPr lvl="0"/>
            <a:r>
              <a:rPr lang="en-US" dirty="0"/>
              <a:t>Verifies workflow order, completion, retries, duplicates, and system invariants.</a:t>
            </a:r>
          </a:p>
          <a:p>
            <a:pPr lvl="0"/>
            <a:r>
              <a:rPr lang="en-US" dirty="0"/>
              <a:t>Provides repeatable evidence of correctness after every run.</a:t>
            </a:r>
          </a:p>
          <a:p>
            <a:pPr lvl="0"/>
            <a:r>
              <a:rPr lang="en-US" dirty="0"/>
              <a:t>More reliable than manually reviewing console output.</a:t>
            </a:r>
          </a:p>
          <a:p>
            <a:pPr marL="0" lvl="0" indent="0">
              <a:buNone/>
            </a:pPr>
            <a:endParaRPr lang="en-US" b="1" dirty="0"/>
          </a:p>
          <a:p>
            <a:pPr marL="0" lvl="0" indent="0">
              <a:buNone/>
            </a:pPr>
            <a:r>
              <a:rPr lang="en-US" b="1" dirty="0"/>
              <a:t>Design Goal:</a:t>
            </a:r>
          </a:p>
          <a:p>
            <a:pPr lvl="1"/>
            <a:r>
              <a:rPr lang="en-US" b="1" dirty="0"/>
              <a:t>Keep responsibilities separate so the system remains correct, maintainable, testable, and easier to scale under concurrent execution.</a:t>
            </a:r>
            <a:endParaRPr lang="en-US" dirty="0"/>
          </a:p>
          <a:p>
            <a:pPr lvl="0"/>
            <a:endParaRPr lang="en-US" dirty="0"/>
          </a:p>
          <a:p>
            <a:endParaRPr lang="en-US" dirty="0"/>
          </a:p>
        </p:txBody>
      </p:sp>
    </p:spTree>
    <p:extLst>
      <p:ext uri="{BB962C8B-B14F-4D97-AF65-F5344CB8AC3E}">
        <p14:creationId xmlns:p14="http://schemas.microsoft.com/office/powerpoint/2010/main" val="35573174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769AE3-327F-5095-BA95-5F4C4BFC2935}"/>
              </a:ext>
            </a:extLst>
          </p:cNvPr>
          <p:cNvSpPr>
            <a:spLocks noGrp="1"/>
          </p:cNvSpPr>
          <p:nvPr>
            <p:ph idx="1"/>
          </p:nvPr>
        </p:nvSpPr>
        <p:spPr>
          <a:xfrm>
            <a:off x="838200" y="160774"/>
            <a:ext cx="10515600" cy="6016189"/>
          </a:xfrm>
        </p:spPr>
        <p:txBody>
          <a:bodyPr>
            <a:normAutofit fontScale="92500" lnSpcReduction="10000"/>
          </a:bodyPr>
          <a:lstStyle/>
          <a:p>
            <a:endParaRPr/>
          </a:p>
        </p:txBody>
      </p:sp>
      <p:sp>
        <p:nvSpPr>
          <p:cNvPr id="4" name="TextBox 3"/>
          <p:cNvSpPr txBox="1"/>
          <p:nvPr/>
        </p:nvSpPr>
        <p:spPr>
          <a:xfrm>
            <a:off x="640080" y="320040"/>
            <a:ext cx="10972800" cy="640080"/>
          </a:xfrm>
          <a:prstGeom prst="rect">
            <a:avLst/>
          </a:prstGeom>
          <a:noFill/>
        </p:spPr>
        <p:txBody>
          <a:bodyPr wrap="none">
            <a:spAutoFit/>
          </a:bodyPr>
          <a:lstStyle/>
          <a:p>
            <a:pPr>
              <a:defRPr sz="2800" b="1"/>
            </a:pPr>
            <a:r>
              <a:t>Validation &amp; Stress Results</a:t>
            </a:r>
          </a:p>
        </p:txBody>
      </p:sp>
      <p:sp>
        <p:nvSpPr>
          <p:cNvPr id="5" name="Rounded Rectangle 4"/>
          <p:cNvSpPr/>
          <p:nvPr/>
        </p:nvSpPr>
        <p:spPr>
          <a:xfrm>
            <a:off x="594360" y="1417320"/>
            <a:ext cx="2423160" cy="141732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pPr>
            <a:r>
              <a:t>Java Validation</a:t>
            </a:r>
          </a:p>
          <a:p>
            <a:pPr algn="ctr">
              <a:defRPr sz="2800" b="1"/>
            </a:pPr>
            <a:r>
              <a:t>6 / 6</a:t>
            </a:r>
          </a:p>
          <a:p>
            <a:pPr algn="ctr">
              <a:defRPr sz="1200"/>
            </a:pPr>
            <a:r>
              <a:t>tests passed</a:t>
            </a:r>
          </a:p>
        </p:txBody>
      </p:sp>
      <p:sp>
        <p:nvSpPr>
          <p:cNvPr id="6" name="Rounded Rectangle 5"/>
          <p:cNvSpPr/>
          <p:nvPr/>
        </p:nvSpPr>
        <p:spPr>
          <a:xfrm>
            <a:off x="3520440" y="1417320"/>
            <a:ext cx="2423160" cy="141732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pPr>
            <a:r>
              <a:t>Python Validation</a:t>
            </a:r>
          </a:p>
          <a:p>
            <a:pPr algn="ctr">
              <a:defRPr sz="2800" b="1"/>
            </a:pPr>
            <a:r>
              <a:t>6 / 6</a:t>
            </a:r>
          </a:p>
          <a:p>
            <a:pPr algn="ctr">
              <a:defRPr sz="1200"/>
            </a:pPr>
            <a:r>
              <a:t>tests passed</a:t>
            </a:r>
          </a:p>
        </p:txBody>
      </p:sp>
      <p:sp>
        <p:nvSpPr>
          <p:cNvPr id="7" name="Rounded Rectangle 6"/>
          <p:cNvSpPr/>
          <p:nvPr/>
        </p:nvSpPr>
        <p:spPr>
          <a:xfrm>
            <a:off x="6446520" y="1417320"/>
            <a:ext cx="2423160" cy="141732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pPr>
            <a:r>
              <a:t>Experimental Scenarios</a:t>
            </a:r>
          </a:p>
          <a:p>
            <a:pPr algn="ctr">
              <a:defRPr sz="2800" b="1"/>
            </a:pPr>
            <a:r>
              <a:t>13</a:t>
            </a:r>
          </a:p>
          <a:p>
            <a:pPr algn="ctr">
              <a:defRPr sz="1200"/>
            </a:pPr>
            <a:r>
              <a:t>per implementation</a:t>
            </a:r>
          </a:p>
        </p:txBody>
      </p:sp>
      <p:sp>
        <p:nvSpPr>
          <p:cNvPr id="8" name="Rounded Rectangle 7"/>
          <p:cNvSpPr/>
          <p:nvPr/>
        </p:nvSpPr>
        <p:spPr>
          <a:xfrm>
            <a:off x="9372600" y="1417320"/>
            <a:ext cx="2423160" cy="141732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pPr>
            <a:r>
              <a:t>Total Experimental Runs</a:t>
            </a:r>
          </a:p>
          <a:p>
            <a:pPr algn="ctr">
              <a:defRPr sz="2800" b="1"/>
            </a:pPr>
            <a:r>
              <a:t>130</a:t>
            </a:r>
          </a:p>
          <a:p>
            <a:pPr algn="ctr">
              <a:defRPr sz="1200"/>
            </a:pPr>
            <a:r>
              <a:t>65 Java + 65 Python</a:t>
            </a:r>
          </a:p>
        </p:txBody>
      </p:sp>
      <p:sp>
        <p:nvSpPr>
          <p:cNvPr id="9" name="TextBox 8"/>
          <p:cNvSpPr txBox="1"/>
          <p:nvPr/>
        </p:nvSpPr>
        <p:spPr>
          <a:xfrm>
            <a:off x="822960" y="3246120"/>
            <a:ext cx="5303520" cy="2743200"/>
          </a:xfrm>
          <a:prstGeom prst="rect">
            <a:avLst/>
          </a:prstGeom>
          <a:noFill/>
        </p:spPr>
        <p:txBody>
          <a:bodyPr wrap="square">
            <a:spAutoFit/>
          </a:bodyPr>
          <a:lstStyle/>
          <a:p>
            <a:pPr>
              <a:defRPr sz="2200" b="1"/>
            </a:pPr>
            <a:r>
              <a:t>Stress Coverage</a:t>
            </a:r>
          </a:p>
          <a:p>
            <a:pPr>
              <a:spcAft>
                <a:spcPts val="800"/>
              </a:spcAft>
              <a:defRPr sz="1800"/>
            </a:pPr>
            <a:r>
              <a:t>Each of the 13 scenarios was executed five times per implementation.</a:t>
            </a:r>
          </a:p>
          <a:p>
            <a:pPr>
              <a:spcAft>
                <a:spcPts val="800"/>
              </a:spcAft>
              <a:defRPr sz="1800"/>
            </a:pPr>
            <a:r>
              <a:t>Stress workloads included 250-operation and 1,000-operation cases.</a:t>
            </a:r>
          </a:p>
          <a:p>
            <a:pPr>
              <a:spcAft>
                <a:spcPts val="800"/>
              </a:spcAft>
              <a:defRPr sz="1800"/>
            </a:pPr>
            <a:r>
              <a:t>Repeated execution exposed timing-dependent behavior that a single run could miss.</a:t>
            </a:r>
          </a:p>
        </p:txBody>
      </p:sp>
      <p:sp>
        <p:nvSpPr>
          <p:cNvPr id="10" name="TextBox 9"/>
          <p:cNvSpPr txBox="1"/>
          <p:nvPr/>
        </p:nvSpPr>
        <p:spPr>
          <a:xfrm>
            <a:off x="6400800" y="3246120"/>
            <a:ext cx="5303520" cy="2743200"/>
          </a:xfrm>
          <a:prstGeom prst="rect">
            <a:avLst/>
          </a:prstGeom>
          <a:noFill/>
        </p:spPr>
        <p:txBody>
          <a:bodyPr wrap="square">
            <a:spAutoFit/>
          </a:bodyPr>
          <a:lstStyle/>
          <a:p>
            <a:pPr>
              <a:defRPr sz="2200" b="1"/>
            </a:pPr>
            <a:r>
              <a:t>Failure / Recovery Evidence</a:t>
            </a:r>
          </a:p>
          <a:p>
            <a:pPr>
              <a:spcAft>
                <a:spcPts val="800"/>
              </a:spcAft>
              <a:defRPr sz="1800"/>
            </a:pPr>
            <a:r>
              <a:t>Duplicate and out-of-order event handling</a:t>
            </a:r>
          </a:p>
          <a:p>
            <a:pPr>
              <a:spcAft>
                <a:spcPts val="800"/>
              </a:spcAft>
              <a:defRPr sz="1800"/>
            </a:pPr>
            <a:r>
              <a:t>Transient failure with retry and recovery</a:t>
            </a:r>
          </a:p>
          <a:p>
            <a:pPr>
              <a:spcAft>
                <a:spcPts val="800"/>
              </a:spcAft>
              <a:defRPr sz="1800"/>
            </a:pPr>
            <a:r>
              <a:t>Retry exhaustion and Dead Letter Queue containment</a:t>
            </a:r>
          </a:p>
          <a:p>
            <a:pPr>
              <a:spcAft>
                <a:spcPts val="800"/>
              </a:spcAft>
              <a:defRPr sz="1800"/>
            </a:pPr>
            <a:r>
              <a:t>Missed-signal and lock-stall simulations</a:t>
            </a:r>
          </a:p>
        </p:txBody>
      </p:sp>
    </p:spTree>
    <p:extLst>
      <p:ext uri="{BB962C8B-B14F-4D97-AF65-F5344CB8AC3E}">
        <p14:creationId xmlns:p14="http://schemas.microsoft.com/office/powerpoint/2010/main" val="11813950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20040"/>
            <a:ext cx="10972800" cy="640080"/>
          </a:xfrm>
          <a:prstGeom prst="rect">
            <a:avLst/>
          </a:prstGeom>
          <a:noFill/>
        </p:spPr>
        <p:txBody>
          <a:bodyPr wrap="none">
            <a:spAutoFit/>
          </a:bodyPr>
          <a:lstStyle/>
          <a:p>
            <a:pPr>
              <a:defRPr sz="2800" b="1"/>
            </a:pPr>
            <a:r>
              <a:t>Java vs. Python Runtime Comparison</a:t>
            </a:r>
          </a:p>
        </p:txBody>
      </p:sp>
      <p:graphicFrame>
        <p:nvGraphicFramePr>
          <p:cNvPr id="3" name="Table 2"/>
          <p:cNvGraphicFramePr>
            <a:graphicFrameLocks noGrp="1"/>
          </p:cNvGraphicFramePr>
          <p:nvPr/>
        </p:nvGraphicFramePr>
        <p:xfrm>
          <a:off x="685800" y="1325880"/>
          <a:ext cx="10972800" cy="4389120"/>
        </p:xfrm>
        <a:graphic>
          <a:graphicData uri="http://schemas.openxmlformats.org/drawingml/2006/table">
            <a:tbl>
              <a:tblPr firstRow="1" bandRow="1">
                <a:tableStyleId>{5C22544A-7EE6-4342-B048-85BDC9FD1C3A}</a:tableStyleId>
              </a:tblPr>
              <a:tblGrid>
                <a:gridCol w="2194560">
                  <a:extLst>
                    <a:ext uri="{9D8B030D-6E8A-4147-A177-3AD203B41FA5}">
                      <a16:colId xmlns:a16="http://schemas.microsoft.com/office/drawing/2014/main" val="20000"/>
                    </a:ext>
                  </a:extLst>
                </a:gridCol>
                <a:gridCol w="4389120">
                  <a:extLst>
                    <a:ext uri="{9D8B030D-6E8A-4147-A177-3AD203B41FA5}">
                      <a16:colId xmlns:a16="http://schemas.microsoft.com/office/drawing/2014/main" val="20001"/>
                    </a:ext>
                  </a:extLst>
                </a:gridCol>
                <a:gridCol w="4389120">
                  <a:extLst>
                    <a:ext uri="{9D8B030D-6E8A-4147-A177-3AD203B41FA5}">
                      <a16:colId xmlns:a16="http://schemas.microsoft.com/office/drawing/2014/main" val="20002"/>
                    </a:ext>
                  </a:extLst>
                </a:gridCol>
              </a:tblGrid>
              <a:tr h="731520">
                <a:tc>
                  <a:txBody>
                    <a:bodyPr/>
                    <a:lstStyle/>
                    <a:p>
                      <a:pPr algn="ctr">
                        <a:defRPr sz="1700" b="1"/>
                      </a:pPr>
                      <a:r>
                        <a:t>Area</a:t>
                      </a:r>
                    </a:p>
                  </a:txBody>
                  <a:tcPr/>
                </a:tc>
                <a:tc>
                  <a:txBody>
                    <a:bodyPr/>
                    <a:lstStyle/>
                    <a:p>
                      <a:pPr algn="ctr">
                        <a:defRPr sz="1700" b="1"/>
                      </a:pPr>
                      <a:r>
                        <a:t>Java</a:t>
                      </a:r>
                    </a:p>
                  </a:txBody>
                  <a:tcPr/>
                </a:tc>
                <a:tc>
                  <a:txBody>
                    <a:bodyPr/>
                    <a:lstStyle/>
                    <a:p>
                      <a:pPr algn="ctr">
                        <a:defRPr sz="1700" b="1"/>
                      </a:pPr>
                      <a:r>
                        <a:t>Python</a:t>
                      </a:r>
                    </a:p>
                  </a:txBody>
                  <a:tcPr/>
                </a:tc>
                <a:extLst>
                  <a:ext uri="{0D108BD9-81ED-4DB2-BD59-A6C34878D82A}">
                    <a16:rowId xmlns:a16="http://schemas.microsoft.com/office/drawing/2014/main" val="10000"/>
                  </a:ext>
                </a:extLst>
              </a:tr>
              <a:tr h="731520">
                <a:tc>
                  <a:txBody>
                    <a:bodyPr/>
                    <a:lstStyle/>
                    <a:p>
                      <a:pPr algn="l">
                        <a:defRPr sz="1600"/>
                      </a:pPr>
                      <a:r>
                        <a:t>Concurrency Model</a:t>
                      </a:r>
                    </a:p>
                  </a:txBody>
                  <a:tcPr/>
                </a:tc>
                <a:tc>
                  <a:txBody>
                    <a:bodyPr/>
                    <a:lstStyle/>
                    <a:p>
                      <a:pPr algn="l">
                        <a:defRPr sz="1600"/>
                      </a:pPr>
                      <a:r>
                        <a:t>Worker threads with BlockingQueue</a:t>
                      </a:r>
                    </a:p>
                  </a:txBody>
                  <a:tcPr/>
                </a:tc>
                <a:tc>
                  <a:txBody>
                    <a:bodyPr/>
                    <a:lstStyle/>
                    <a:p>
                      <a:pPr algn="l">
                        <a:defRPr sz="1600"/>
                      </a:pPr>
                      <a:r>
                        <a:t>threading.Thread with queue.Queue</a:t>
                      </a:r>
                    </a:p>
                  </a:txBody>
                  <a:tcPr/>
                </a:tc>
                <a:extLst>
                  <a:ext uri="{0D108BD9-81ED-4DB2-BD59-A6C34878D82A}">
                    <a16:rowId xmlns:a16="http://schemas.microsoft.com/office/drawing/2014/main" val="10001"/>
                  </a:ext>
                </a:extLst>
              </a:tr>
              <a:tr h="731520">
                <a:tc>
                  <a:txBody>
                    <a:bodyPr/>
                    <a:lstStyle/>
                    <a:p>
                      <a:pPr algn="l">
                        <a:defRPr sz="1600"/>
                      </a:pPr>
                      <a:r>
                        <a:t>Synchronization</a:t>
                      </a:r>
                    </a:p>
                  </a:txBody>
                  <a:tcPr/>
                </a:tc>
                <a:tc>
                  <a:txBody>
                    <a:bodyPr/>
                    <a:lstStyle/>
                    <a:p>
                      <a:pPr algn="l">
                        <a:defRPr sz="1600"/>
                      </a:pPr>
                      <a:r>
                        <a:t>synchronized and atomic counters</a:t>
                      </a:r>
                    </a:p>
                  </a:txBody>
                  <a:tcPr/>
                </a:tc>
                <a:tc>
                  <a:txBody>
                    <a:bodyPr/>
                    <a:lstStyle/>
                    <a:p>
                      <a:pPr algn="l">
                        <a:defRPr sz="1600"/>
                      </a:pPr>
                      <a:r>
                        <a:t>Lock / RLock</a:t>
                      </a:r>
                    </a:p>
                  </a:txBody>
                  <a:tcPr/>
                </a:tc>
                <a:extLst>
                  <a:ext uri="{0D108BD9-81ED-4DB2-BD59-A6C34878D82A}">
                    <a16:rowId xmlns:a16="http://schemas.microsoft.com/office/drawing/2014/main" val="10002"/>
                  </a:ext>
                </a:extLst>
              </a:tr>
              <a:tr h="731520">
                <a:tc>
                  <a:txBody>
                    <a:bodyPr/>
                    <a:lstStyle/>
                    <a:p>
                      <a:pPr algn="l">
                        <a:defRPr sz="1600"/>
                      </a:pPr>
                      <a:r>
                        <a:t>Async Model</a:t>
                      </a:r>
                    </a:p>
                  </a:txBody>
                  <a:tcPr/>
                </a:tc>
                <a:tc>
                  <a:txBody>
                    <a:bodyPr/>
                    <a:lstStyle/>
                    <a:p>
                      <a:pPr algn="l">
                        <a:defRPr sz="1600"/>
                      </a:pPr>
                      <a:r>
                        <a:rPr dirty="0"/>
                        <a:t>Event-driven producer-consumer pipeline</a:t>
                      </a:r>
                    </a:p>
                  </a:txBody>
                  <a:tcPr/>
                </a:tc>
                <a:tc>
                  <a:txBody>
                    <a:bodyPr/>
                    <a:lstStyle/>
                    <a:p>
                      <a:pPr algn="l">
                        <a:defRPr sz="1600"/>
                      </a:pPr>
                      <a:r>
                        <a:t>Equivalent event-driven pipeline</a:t>
                      </a:r>
                    </a:p>
                  </a:txBody>
                  <a:tcPr/>
                </a:tc>
                <a:extLst>
                  <a:ext uri="{0D108BD9-81ED-4DB2-BD59-A6C34878D82A}">
                    <a16:rowId xmlns:a16="http://schemas.microsoft.com/office/drawing/2014/main" val="10003"/>
                  </a:ext>
                </a:extLst>
              </a:tr>
              <a:tr h="731520">
                <a:tc>
                  <a:txBody>
                    <a:bodyPr/>
                    <a:lstStyle/>
                    <a:p>
                      <a:pPr algn="l">
                        <a:defRPr sz="1600"/>
                      </a:pPr>
                      <a:r>
                        <a:t>Debugging / Runtime</a:t>
                      </a:r>
                    </a:p>
                  </a:txBody>
                  <a:tcPr/>
                </a:tc>
                <a:tc>
                  <a:txBody>
                    <a:bodyPr/>
                    <a:lstStyle/>
                    <a:p>
                      <a:pPr algn="l">
                        <a:defRPr sz="1600"/>
                      </a:pPr>
                      <a:r>
                        <a:t>Static typing and compiler checks</a:t>
                      </a:r>
                    </a:p>
                  </a:txBody>
                  <a:tcPr/>
                </a:tc>
                <a:tc>
                  <a:txBody>
                    <a:bodyPr/>
                    <a:lstStyle/>
                    <a:p>
                      <a:pPr algn="l">
                        <a:defRPr sz="1600"/>
                      </a:pPr>
                      <a:r>
                        <a:t>Faster iteration; more runtime checking</a:t>
                      </a:r>
                    </a:p>
                  </a:txBody>
                  <a:tcPr/>
                </a:tc>
                <a:extLst>
                  <a:ext uri="{0D108BD9-81ED-4DB2-BD59-A6C34878D82A}">
                    <a16:rowId xmlns:a16="http://schemas.microsoft.com/office/drawing/2014/main" val="10004"/>
                  </a:ext>
                </a:extLst>
              </a:tr>
              <a:tr h="731520">
                <a:tc>
                  <a:txBody>
                    <a:bodyPr/>
                    <a:lstStyle/>
                    <a:p>
                      <a:pPr algn="l">
                        <a:defRPr sz="1600"/>
                      </a:pPr>
                      <a:r>
                        <a:t>Validation</a:t>
                      </a:r>
                    </a:p>
                  </a:txBody>
                  <a:tcPr/>
                </a:tc>
                <a:tc>
                  <a:txBody>
                    <a:bodyPr/>
                    <a:lstStyle/>
                    <a:p>
                      <a:pPr algn="l">
                        <a:defRPr sz="1600"/>
                      </a:pPr>
                      <a:r>
                        <a:t>6/6 tests passed</a:t>
                      </a:r>
                    </a:p>
                  </a:txBody>
                  <a:tcPr/>
                </a:tc>
                <a:tc>
                  <a:txBody>
                    <a:bodyPr/>
                    <a:lstStyle/>
                    <a:p>
                      <a:pPr algn="l">
                        <a:defRPr sz="1600"/>
                      </a:pPr>
                      <a:r>
                        <a:rPr dirty="0"/>
                        <a:t>6/6 tests passed</a:t>
                      </a:r>
                    </a:p>
                  </a:txBody>
                  <a:tcPr/>
                </a:tc>
                <a:extLst>
                  <a:ext uri="{0D108BD9-81ED-4DB2-BD59-A6C34878D82A}">
                    <a16:rowId xmlns:a16="http://schemas.microsoft.com/office/drawing/2014/main" val="10005"/>
                  </a:ext>
                </a:extLst>
              </a:tr>
            </a:tbl>
          </a:graphicData>
        </a:graphic>
      </p:graphicFrame>
      <p:sp>
        <p:nvSpPr>
          <p:cNvPr id="4" name="TextBox 3"/>
          <p:cNvSpPr txBox="1"/>
          <p:nvPr/>
        </p:nvSpPr>
        <p:spPr>
          <a:xfrm>
            <a:off x="1946491" y="5897880"/>
            <a:ext cx="8451416" cy="646331"/>
          </a:xfrm>
          <a:prstGeom prst="rect">
            <a:avLst/>
          </a:prstGeom>
          <a:noFill/>
        </p:spPr>
        <p:txBody>
          <a:bodyPr wrap="none">
            <a:spAutoFit/>
          </a:bodyPr>
          <a:lstStyle/>
          <a:p>
            <a:pPr algn="ctr">
              <a:defRPr sz="1800" b="1"/>
            </a:pPr>
            <a:r>
              <a:rPr dirty="0"/>
              <a:t>Both implementations preserve the same workflow and correctness properties </a:t>
            </a:r>
            <a:endParaRPr lang="en-US" dirty="0"/>
          </a:p>
          <a:p>
            <a:pPr algn="ctr">
              <a:defRPr sz="1800" b="1"/>
            </a:pPr>
            <a:r>
              <a:rPr dirty="0"/>
              <a:t>despite different runtime and synchronization mechanisms.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20040"/>
            <a:ext cx="10972800" cy="640080"/>
          </a:xfrm>
          <a:prstGeom prst="rect">
            <a:avLst/>
          </a:prstGeom>
          <a:noFill/>
        </p:spPr>
        <p:txBody>
          <a:bodyPr wrap="none">
            <a:spAutoFit/>
          </a:bodyPr>
          <a:lstStyle/>
          <a:p>
            <a:pPr>
              <a:defRPr sz="2800" b="1"/>
            </a:pPr>
            <a:r>
              <a:t>AI Review &amp; Future Improvements</a:t>
            </a:r>
          </a:p>
        </p:txBody>
      </p:sp>
      <p:sp>
        <p:nvSpPr>
          <p:cNvPr id="3" name="TextBox 2"/>
          <p:cNvSpPr txBox="1"/>
          <p:nvPr/>
        </p:nvSpPr>
        <p:spPr>
          <a:xfrm>
            <a:off x="731520" y="1325880"/>
            <a:ext cx="5303520" cy="5120640"/>
          </a:xfrm>
          <a:prstGeom prst="rect">
            <a:avLst/>
          </a:prstGeom>
          <a:noFill/>
        </p:spPr>
        <p:txBody>
          <a:bodyPr wrap="square">
            <a:spAutoFit/>
          </a:bodyPr>
          <a:lstStyle/>
          <a:p>
            <a:pPr>
              <a:defRPr sz="2200" b="1"/>
            </a:pPr>
            <a:r>
              <a:t>AI-Assisted Final Review</a:t>
            </a:r>
          </a:p>
          <a:p>
            <a:pPr>
              <a:spcAft>
                <a:spcPts val="800"/>
              </a:spcAft>
              <a:defRPr sz="1800"/>
            </a:pPr>
            <a:r>
              <a:t>AI helped identify risks involving duplicates, ordering, retry behavior, failure containment, and documentation consistency.</a:t>
            </a:r>
          </a:p>
          <a:p>
            <a:pPr>
              <a:spcAft>
                <a:spcPts val="800"/>
              </a:spcAft>
              <a:defRPr sz="1800"/>
            </a:pPr>
            <a:r>
              <a:t>Recommendations were independently verified through logs, metrics, validation tests, and repeated stress execution.</a:t>
            </a:r>
          </a:p>
          <a:p>
            <a:pPr>
              <a:spcAft>
                <a:spcPts val="800"/>
              </a:spcAft>
              <a:defRPr sz="1800"/>
            </a:pPr>
            <a:r>
              <a:t>AI could identify potential risks, but it could not establish actual timing-dependent runtime behavior without direct execution.</a:t>
            </a:r>
          </a:p>
          <a:p>
            <a:pPr>
              <a:spcAft>
                <a:spcPts val="800"/>
              </a:spcAft>
              <a:defRPr sz="1800"/>
            </a:pPr>
            <a:r>
              <a:t>Recommendations outside the scope of Assignment 4 were deferred.</a:t>
            </a:r>
          </a:p>
        </p:txBody>
      </p:sp>
      <p:sp>
        <p:nvSpPr>
          <p:cNvPr id="4" name="TextBox 3"/>
          <p:cNvSpPr txBox="1"/>
          <p:nvPr/>
        </p:nvSpPr>
        <p:spPr>
          <a:xfrm>
            <a:off x="6309360" y="1325880"/>
            <a:ext cx="5303520" cy="5120640"/>
          </a:xfrm>
          <a:prstGeom prst="rect">
            <a:avLst/>
          </a:prstGeom>
          <a:noFill/>
        </p:spPr>
        <p:txBody>
          <a:bodyPr wrap="square">
            <a:spAutoFit/>
          </a:bodyPr>
          <a:lstStyle/>
          <a:p>
            <a:pPr>
              <a:defRPr sz="2200" b="1"/>
            </a:pPr>
            <a:r>
              <a:t>What I Would Improve Next</a:t>
            </a:r>
          </a:p>
          <a:p>
            <a:pPr>
              <a:spcAft>
                <a:spcPts val="800"/>
              </a:spcAft>
              <a:defRPr sz="1800"/>
            </a:pPr>
            <a:r>
              <a:t>Introduce a formal workflow state machine for explicit legal transitions.</a:t>
            </a:r>
          </a:p>
          <a:p>
            <a:pPr>
              <a:spcAft>
                <a:spcPts val="800"/>
              </a:spcAft>
              <a:defRPr sz="1800"/>
            </a:pPr>
            <a:r>
              <a:t>Use durable messaging so queued events survive process failure.</a:t>
            </a:r>
          </a:p>
          <a:p>
            <a:pPr>
              <a:spcAft>
                <a:spcPts val="800"/>
              </a:spcAft>
              <a:defRPr sz="1800"/>
            </a:pPr>
            <a:r>
              <a:t>Support distributed workers and more flexible worker scaling.</a:t>
            </a:r>
          </a:p>
          <a:p>
            <a:pPr>
              <a:spcAft>
                <a:spcPts val="800"/>
              </a:spcAft>
              <a:defRPr sz="1800"/>
            </a:pPr>
            <a:r>
              <a:t>Expand observability with richer monitoring and operational metrics.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95D62-0CF1-B341-3BF1-5F679A5AB57D}"/>
              </a:ext>
            </a:extLst>
          </p:cNvPr>
          <p:cNvSpPr>
            <a:spLocks noGrp="1"/>
          </p:cNvSpPr>
          <p:nvPr>
            <p:ph type="title"/>
          </p:nvPr>
        </p:nvSpPr>
        <p:spPr/>
        <p:txBody>
          <a:bodyPr/>
          <a:lstStyle/>
          <a:p>
            <a:pPr algn="ctr"/>
            <a:r>
              <a:rPr lang="en-US" b="1" dirty="0"/>
              <a:t>Thank You!</a:t>
            </a:r>
          </a:p>
        </p:txBody>
      </p:sp>
      <p:pic>
        <p:nvPicPr>
          <p:cNvPr id="7" name="Content Placeholder 6" descr="Education Logo Template Logo Vector Download | Logowik">
            <a:extLst>
              <a:ext uri="{FF2B5EF4-FFF2-40B4-BE49-F238E27FC236}">
                <a16:creationId xmlns:a16="http://schemas.microsoft.com/office/drawing/2014/main" id="{9FEC4593-073B-2848-7624-1B271D0D0A09}"/>
              </a:ext>
            </a:extLst>
          </p:cNvPr>
          <p:cNvPicPr>
            <a:picLocks noGrp="1" noChangeAspect="1"/>
          </p:cNvPicPr>
          <p:nvPr>
            <p:ph idx="1"/>
          </p:nvPr>
        </p:nvPicPr>
        <p:blipFill>
          <a:blip r:embed="rId2"/>
          <a:stretch>
            <a:fillRect/>
          </a:stretch>
        </p:blipFill>
        <p:spPr>
          <a:xfrm>
            <a:off x="3197339" y="1825625"/>
            <a:ext cx="5797321" cy="4351338"/>
          </a:xfrm>
          <a:prstGeom prst="rect">
            <a:avLst/>
          </a:prstGeom>
        </p:spPr>
      </p:pic>
    </p:spTree>
    <p:extLst>
      <p:ext uri="{BB962C8B-B14F-4D97-AF65-F5344CB8AC3E}">
        <p14:creationId xmlns:p14="http://schemas.microsoft.com/office/powerpoint/2010/main" val="26178010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143</TotalTime>
  <Words>748</Words>
  <Application>Microsoft Macintosh PowerPoint</Application>
  <PresentationFormat>Widescreen</PresentationFormat>
  <Paragraphs>122</Paragraphs>
  <Slides>12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Aptos Display</vt:lpstr>
      <vt:lpstr>Arial</vt:lpstr>
      <vt:lpstr>Courier New</vt:lpstr>
      <vt:lpstr>Office Theme</vt:lpstr>
      <vt:lpstr>School Registration system </vt:lpstr>
      <vt:lpstr>Workflows:</vt:lpstr>
      <vt:lpstr>PowerPoint Presentation</vt:lpstr>
      <vt:lpstr>PowerPoint Presentation</vt:lpstr>
      <vt:lpstr>Events</vt:lpstr>
      <vt:lpstr>Threaded Workers</vt:lpstr>
      <vt:lpstr>Object Ownership</vt:lpstr>
      <vt:lpstr>Automated Validation Framework </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Jan, Michael C</dc:creator>
  <cp:lastModifiedBy>Jan, Michael C</cp:lastModifiedBy>
  <cp:revision>12</cp:revision>
  <dcterms:created xsi:type="dcterms:W3CDTF">2026-08-06T05:33:15Z</dcterms:created>
  <dcterms:modified xsi:type="dcterms:W3CDTF">2026-08-09T01:26:03Z</dcterms:modified>
</cp:coreProperties>
</file>